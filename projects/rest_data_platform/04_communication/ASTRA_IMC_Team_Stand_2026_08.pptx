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7A7A"/>
                </a:solidFill>
                <a:latin typeface="Calibri"/>
              </a:rPr>
              <a:t>ASTRA IMC  ·  Team-Session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B2E3D"/>
                </a:solidFill>
                <a:latin typeface="Calibri"/>
              </a:rPr>
              <a:t>Zuerst die Arbeit darunter.
Dann das Working 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656B"/>
                </a:solidFill>
                <a:latin typeface="Calibri"/>
              </a:rPr>
              <a:t>WP 5.2 ReST Data Platform  ·  Pilot WP 2.1  ·  Stand 17.08.2026
Lokales Register, nicht das Endprodukt.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E3D"/>
                </a:solidFill>
                <a:latin typeface="Calibri"/>
              </a:rPr>
              <a:t>Warum nicht mit der Tabelle starten?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Wer zuerst die UI sieht, sagt: „simple — wo ist LCA, Simulation, der Pass?“
Die Oberfläche ist absichtlich dünn. Die Substanz ist das Register.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Reihenfolge heute: Eisberg  →  Quellen  →  Schema  →  Zahlen  →  Live-Board  →  Plan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Fehlendes hat einen Owner (Marc / Thomas / Shubham) — das ist der Schnitt, kein vergessenes Ticket.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Plattform liefert Grundlagen. AnyLogic und SimaPro rechnen nicht hier.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E3D"/>
                </a:solidFill>
                <a:latin typeface="Calibri"/>
              </a:rPr>
              <a:t>Rahmen: zwei Produkte, zwei Schichten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54864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Calibri"/>
              </a:rPr>
              <a:t>Produkt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E3D"/>
                </a:solidFill>
                <a:latin typeface="Calibri"/>
              </a:rPr>
              <a:t>Decom Capacity Screener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Zeitstrahl, Material grob, Hafen, Wetter grob.
Heute: Datenbausteine. Noch nicht das fertige Produkt.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4864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Calibri"/>
              </a:rPr>
              <a:t>Produkt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E3D"/>
                </a:solidFill>
                <a:latin typeface="Calibri"/>
              </a:rPr>
              <a:t>DPP-Prototyp / AAS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Feldliste, Submodels, ein Export-PoC.
Postgres bleibt System of Record.
AAS ist die reisefähige 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Dual-Track:  DB = Wahrheit für Marc &amp; Thomas (CSV/View).   AAS = Export für Interop (Shubham).
Nicht: AAS als zweites Register. Nicht: Simulation in der Plattform.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Die Arbeit darunter</a:t>
            </a:r>
          </a:p>
        </p:txBody>
      </p:sp>
      <p:pic>
        <p:nvPicPr>
          <p:cNvPr id="4" name="Picture 3" descr="iceberg_working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731520"/>
            <a:ext cx="1133856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Was eingeflossen ist</a:t>
            </a:r>
          </a:p>
        </p:txBody>
      </p:sp>
      <p:pic>
        <p:nvPicPr>
          <p:cNvPr id="4" name="Picture 3" descr="quellen_fluss_pictogram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5214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6B"/>
                </a:solidFill>
                <a:latin typeface="Calibri"/>
              </a:rPr>
              <a:t>4C = Parks/Technik  ·  MaStR = DE-IDs &amp; Einheiten  ·  BfN = Schutzgebiete  ·  Häfen = Lage/Rolle/Distanz  ·  ERA5 = Tagesreihe Wind/Hs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E3D"/>
                </a:solidFill>
                <a:latin typeface="Calibri"/>
              </a:rPr>
              <a:t>Echtes Schema  —  Supabase Visualizer (lokal)</a:t>
            </a:r>
          </a:p>
        </p:txBody>
      </p:sp>
      <p:pic>
        <p:nvPicPr>
          <p:cNvPr id="4" name="Picture 3" descr="supabase_schema_visualiz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56B"/>
                </a:solidFill>
                <a:latin typeface="Calibri"/>
              </a:rPr>
              <a:t>Ausschnitt: farm_id-Satelliten + source_id. 37 IMC-Tabellen sitzen auf Makerkit-Auth/RLS — deshalb wirkt der Visualizer voll.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ernmodell_n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1704320" cy="6263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Was schon zählbar ist  (lokal, 17.08.2026)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7A7A"/>
                </a:solidFill>
                <a:latin typeface="Calibri"/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D"/>
                </a:solidFill>
                <a:latin typeface="Calibri"/>
              </a:rPr>
              <a:t>DE-Parks aktiv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56B"/>
                </a:solidFill>
                <a:latin typeface="Calibri"/>
              </a:rPr>
              <a:t>ohne Cancelled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0972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25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7A7A"/>
                </a:solidFill>
                <a:latin typeface="Calibri"/>
              </a:rPr>
              <a:t>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D"/>
                </a:solidFill>
                <a:latin typeface="Calibri"/>
              </a:rPr>
              <a:t>mit Inbetriebnahme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468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56B"/>
                </a:solidFill>
                <a:latin typeface="Calibri"/>
              </a:rPr>
              <a:t>MaStR + 4C Dates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0972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25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7A7A"/>
                </a:solidFill>
                <a:latin typeface="Calibri"/>
              </a:rPr>
              <a:t>1.593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D"/>
                </a:solidFill>
                <a:latin typeface="Calibri"/>
              </a:rPr>
              <a:t>Turbinen-Einheiten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68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56B"/>
                </a:solidFill>
                <a:latin typeface="Calibri"/>
              </a:rPr>
              <a:t>MaStR, u. a. AV01–12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2900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576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7A7A"/>
                </a:solidFill>
                <a:latin typeface="Calibri"/>
              </a:rPr>
              <a:t>205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D"/>
                </a:solidFill>
                <a:latin typeface="Calibri"/>
              </a:rPr>
              <a:t>Schutzgebiete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56B"/>
                </a:solidFill>
                <a:latin typeface="Calibri"/>
              </a:rPr>
              <a:t>BfN marin Overlay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2900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6576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7A7A"/>
                </a:solidFill>
                <a:latin typeface="Calibri"/>
              </a:rPr>
              <a:t>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D"/>
                </a:solidFill>
                <a:latin typeface="Calibri"/>
              </a:rPr>
              <a:t>Häfen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800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56B"/>
                </a:solidFill>
                <a:latin typeface="Calibri"/>
              </a:rPr>
              <a:t>677 Farm-Links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42900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6576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7A7A"/>
                </a:solidFill>
                <a:latin typeface="Calibri"/>
              </a:rPr>
              <a:t>1.858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E3D"/>
                </a:solidFill>
                <a:latin typeface="Calibri"/>
              </a:rPr>
              <a:t>ERA5-Tage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800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56B"/>
                </a:solidFill>
                <a:latin typeface="Calibri"/>
              </a:rPr>
              <a:t>AV + Albatros + Amrumbank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Ein Objekt durchgängig: Alpha Ventus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188719"/>
            <a:ext cx="1554480" cy="411480"/>
          </a:xfrm>
          <a:prstGeom prst="round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1615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216151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Park, Tripod, Standort, Lifecycle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1554480" cy="411480"/>
          </a:xfrm>
          <a:prstGeom prst="round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933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MaStR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993392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Park-Match + 12 Einheiten AV01–AV12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39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2743199"/>
            <a:ext cx="1554480" cy="411480"/>
          </a:xfrm>
          <a:prstGeom prst="round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706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Hafen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770632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Emden kuratiert als Decom-Rolle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3279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520439"/>
            <a:ext cx="1554480" cy="411480"/>
          </a:xfrm>
          <a:prstGeom prst="round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5478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547872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nächstes Schutzgebiet am Detail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6052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4297680"/>
            <a:ext cx="1554480" cy="411480"/>
          </a:xfrm>
          <a:prstGeom prst="round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3251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325112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680 Tage  2024-01-01 – 2026-08-12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5074920"/>
            <a:ext cx="1554480" cy="411480"/>
          </a:xfrm>
          <a:prstGeom prst="round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102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102352"/>
            <a:ext cx="877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Wetter-CSV: day, wind_ms, hs_m, operable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Bewusst nicht drin  —  mit Owner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39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E3D"/>
                </a:solidFill>
                <a:latin typeface="Calibri"/>
              </a:rPr>
              <a:t>BOM / Massen / GWP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56B"/>
                </a:solidFill>
                <a:latin typeface="Calibri"/>
              </a:rPr>
              <a:t>Fachdaten, nicht raten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1371600"/>
            <a:ext cx="2560320" cy="457200"/>
          </a:xfrm>
          <a:prstGeom prst="roundRect">
            <a:avLst/>
          </a:prstGeom>
          <a:solidFill>
            <a:srgbClr val="C4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4173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E3D"/>
                </a:solidFill>
                <a:latin typeface="Calibri"/>
              </a:rPr>
              <a:t>Sequenz, Dauer, Kosten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56B"/>
                </a:solidFill>
                <a:latin typeface="Calibri"/>
              </a:rPr>
              <a:t>AnyLogic bleibt bei Marc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2514600"/>
            <a:ext cx="2560320" cy="457200"/>
          </a:xfrm>
          <a:prstGeom prst="roundRect">
            <a:avLst/>
          </a:prstGeom>
          <a:solidFill>
            <a:srgbClr val="C4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83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E3D"/>
                </a:solidFill>
                <a:latin typeface="Calibri"/>
              </a:rPr>
              <a:t>AASX / semanticIds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86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56B"/>
                </a:solidFill>
                <a:latin typeface="Calibri"/>
              </a:rPr>
              <a:t>Form erst nach Interface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657600"/>
            <a:ext cx="2560320" cy="457200"/>
          </a:xfrm>
          <a:prstGeom prst="roundRect">
            <a:avLst/>
          </a:prstGeom>
          <a:solidFill>
            <a:srgbClr val="C4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3703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Shubham + Heiko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26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E3D"/>
                </a:solidFill>
                <a:latin typeface="Calibri"/>
              </a:rPr>
              <a:t>Vessel-Defaults final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29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56B"/>
                </a:solidFill>
                <a:latin typeface="Calibri"/>
              </a:rPr>
              <a:t>Katalog-Platzhalter → Marc-Override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78240" y="4800600"/>
            <a:ext cx="2560320" cy="457200"/>
          </a:xfrm>
          <a:prstGeom prst="roundRect">
            <a:avLst/>
          </a:prstGeom>
          <a:solidFill>
            <a:srgbClr val="C4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4846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Marc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Erst jetzt: das Working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7A7A"/>
                </a:solidFill>
                <a:latin typeface="Calibri"/>
              </a:rPr>
              <a:t>Die Tabelle ist das Ergebnis der Folien davor — nicht der ganze Stand.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Live: Assets → Waves → Economics → Vessels · Depth/Shore-Filter · Map-light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Park-Dossier: Steckbrief/Site, Wetter Tag+Stunde+CSV, Akteure, Schiffseinsätze, Sim-Rollen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Vessels: Typenkatalog Marc-Felder + CSV · Contracts DE light (Suche/Sort)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 Team-Slug lokal: research-team  ·  http://localhost:3000  ·  Branch feat/assets-ia-restructure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Als Nächstes: zwei Spuren parallel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7A7A"/>
                </a:solidFill>
                <a:latin typeface="Calibri"/>
              </a:rPr>
              <a:t>Spur A  ·  Daten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Marc-IA abnehmen: Stunden-CSV, Katalog, Barge, Snapshot-Modell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ERA5-Stunden AV bereits CDS (~23k h); DE-Tagesbatch optional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Vessel-Typen-Katalog (8) mit Platzhaltern — Marc override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Cloud nur per psql, nicht MCP-Seed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7A7A"/>
                </a:solidFill>
                <a:latin typeface="Calibri"/>
              </a:rPr>
              <a:t>Spur B  ·  Interop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Industrie-Normen ablegen (IDTA / DPP)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Mit Shubham: AAS-Schnitt Alpha Ventus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Interface Agreement DB → AAS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•  Erst dann Exporter — nicht vorher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E3D"/>
                </a:solidFill>
                <a:latin typeface="Calibri"/>
              </a:rPr>
              <a:t>Was ich von euch brauche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7A7A"/>
                </a:solidFill>
                <a:latin typeface="Calibri"/>
              </a:rPr>
              <a:t>Marc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3898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Stunden-CSV + Katalog OK? Barge eigener Typ? Sequenz-Vorlage wann?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7A7A"/>
                </a:solidFill>
                <a:latin typeface="Calibri"/>
              </a:rPr>
              <a:t>Thomas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5328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Massen / GWP kommen von dir in die DB, nicht aus der 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57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7A7A"/>
                </a:solidFill>
                <a:latin typeface="Calibri"/>
              </a:rPr>
              <a:t>Shubham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758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Normen + Mapping: du Form, ich Spalten und Keys.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2628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7A7A"/>
                </a:solidFill>
                <a:latin typeface="Calibri"/>
              </a:rPr>
              <a:t>Alle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8188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Kein Feature-Zuruf an die Tabelle. Fehlendes bleibt beim Owner.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656B"/>
                </a:solidFill>
                <a:latin typeface="Calibri"/>
              </a:rPr>
              <a:t>ASTRA IMC  ·  WP 5.2 ReST Data Platform  ·  Team-Session Aug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10528"/>
            <a:ext cx="640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A65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